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22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22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2.xml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tags" Target="../tags/tag1.xml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4" Type="http://schemas.openxmlformats.org/officeDocument/2006/relationships/slideLayout" Target="../slideLayouts/slideLayout2.xml"/><Relationship Id="rId23" Type="http://schemas.openxmlformats.org/officeDocument/2006/relationships/image" Target="../media/image12.jpeg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3.xml"/><Relationship Id="rId19" Type="http://schemas.openxmlformats.org/officeDocument/2006/relationships/image" Target="../media/image11.svg"/><Relationship Id="rId18" Type="http://schemas.openxmlformats.org/officeDocument/2006/relationships/image" Target="../media/image10.png"/><Relationship Id="rId17" Type="http://schemas.openxmlformats.org/officeDocument/2006/relationships/tags" Target="../tags/tag18.xml"/><Relationship Id="rId16" Type="http://schemas.openxmlformats.org/officeDocument/2006/relationships/tags" Target="../tags/tag17.xml"/><Relationship Id="rId15" Type="http://schemas.openxmlformats.org/officeDocument/2006/relationships/tags" Target="../tags/tag16.xml"/><Relationship Id="rId14" Type="http://schemas.openxmlformats.org/officeDocument/2006/relationships/tags" Target="../tags/tag15.xml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p>
            <a:r>
              <a:rPr lang="en-US" altLang="zh-CN" sz="4000">
                <a:latin typeface="Times New Roman" panose="02020603050405020304" charset="0"/>
                <a:cs typeface="Times New Roman" panose="02020603050405020304" charset="0"/>
              </a:rPr>
              <a:t>Federated Traffic Sign Recognition under Non-IID Label Distributions: A GTSRB Study of FedAvg and FedProx</a:t>
            </a:r>
            <a:endParaRPr lang="en-US" altLang="zh-CN"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0000"/>
          </a:bodyPr>
          <a:p>
            <a:r>
              <a:rPr lang="en-US" altLang="zh-CN"/>
              <a:t>Student Name: Ma He</a:t>
            </a:r>
            <a:endParaRPr lang="en-US" altLang="zh-CN"/>
          </a:p>
          <a:p>
            <a:r>
              <a:rPr lang="en-US" altLang="zh-CN"/>
              <a:t>Faculty supervisor: Song Linqi</a:t>
            </a:r>
            <a:endParaRPr lang="en-US" altLang="zh-CN"/>
          </a:p>
          <a:p>
            <a:r>
              <a:rPr lang="en-US" altLang="zh-CN"/>
              <a:t>Institution: City University of Hong Kong</a:t>
            </a:r>
            <a:endParaRPr lang="en-US" altLang="zh-CN"/>
          </a:p>
          <a:p>
            <a:r>
              <a:rPr lang="en-US" altLang="zh-CN"/>
              <a:t>Submission date: 31 July 2026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2490"/>
          </a:xfrm>
        </p:spPr>
        <p:txBody>
          <a:bodyPr>
            <a:normAutofit/>
          </a:bodyPr>
          <a:p>
            <a:r>
              <a:rPr lang="en-US" altLang="zh-CN" sz="3555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Why Federated Learning for Traffic Sign Recognition?</a:t>
            </a:r>
            <a:endParaRPr lang="en-US" altLang="zh-CN" sz="3555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56360"/>
            <a:ext cx="10515600" cy="3305175"/>
          </a:xfrm>
        </p:spPr>
        <p:txBody>
          <a:bodyPr/>
          <a:p>
            <a:r>
              <a:rPr lang="en-US" altLang="zh-CN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Distributed Vehicle Data</a:t>
            </a:r>
            <a:endParaRPr lang="en-US" altLang="zh-CN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Traffic-sign images are generated across different vehicles and driving environments.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Privacy-Preserving Collaboration</a:t>
            </a:r>
            <a:endParaRPr lang="en-US" altLang="zh-CN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Federated learning enables vehicles to train a shared model without uploading raw images.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ClrTx/>
              <a:buSzTx/>
            </a:pPr>
            <a:r>
              <a:rPr lang="en-US" altLang="zh-CN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Non-IID Data Challenge</a:t>
            </a:r>
            <a:endParaRPr lang="en-US" altLang="zh-CN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Different vehicles may observe different traffic-sign classes and class frequencies.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088515" y="4780280"/>
            <a:ext cx="9265285" cy="12604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Research Question</a:t>
            </a:r>
            <a:endParaRPr lang="en-US" altLang="zh-CN" sz="28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How robust is FedAvg under non-IID label distributions, and can FedProx mitigate the resulting performance degradation?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图片 4" descr="问号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7730" y="4914265"/>
            <a:ext cx="992505" cy="9925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0880"/>
          </a:xfrm>
        </p:spPr>
        <p:txBody>
          <a:bodyPr/>
          <a:p>
            <a:r>
              <a:rPr lang="en-US" altLang="zh-CN" sz="3555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Research Framework</a:t>
            </a:r>
            <a:endParaRPr lang="en-US" altLang="zh-CN" sz="3555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4309110" y="1746250"/>
            <a:ext cx="2807970" cy="3739515"/>
          </a:xfrm>
          <a:prstGeom prst="roundRect">
            <a:avLst/>
          </a:prstGeom>
          <a:noFill/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7648575" y="1746250"/>
            <a:ext cx="2807970" cy="3739515"/>
          </a:xfrm>
          <a:prstGeom prst="roundRect">
            <a:avLst/>
          </a:prstGeom>
          <a:noFill/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969645" y="1746250"/>
            <a:ext cx="2995295" cy="3738880"/>
            <a:chOff x="1527" y="2750"/>
            <a:chExt cx="4717" cy="5888"/>
          </a:xfrm>
        </p:grpSpPr>
        <p:sp>
          <p:nvSpPr>
            <p:cNvPr id="4" name="圆角矩形 3"/>
            <p:cNvSpPr/>
            <p:nvPr/>
          </p:nvSpPr>
          <p:spPr>
            <a:xfrm>
              <a:off x="1527" y="2750"/>
              <a:ext cx="4422" cy="5889"/>
            </a:xfrm>
            <a:prstGeom prst="roundRect">
              <a:avLst/>
            </a:prstGeom>
            <a:noFill/>
            <a:ln w="19050"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2289" y="2943"/>
              <a:ext cx="285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</a:rPr>
                <a:t>Stage 1A  Baseline</a:t>
              </a:r>
              <a:endParaRPr lang="en-US" altLang="zh-CN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822" y="4160"/>
              <a:ext cx="3479" cy="1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>
                <a:buFont typeface="Wingdings" panose="05000000000000000000" charset="0"/>
                <a:buChar char="l"/>
              </a:pPr>
              <a:r>
                <a:rPr lang="en-US" altLang="zh-CN"/>
                <a:t>IID Setting</a:t>
              </a:r>
              <a:endParaRPr lang="en-US" altLang="zh-CN"/>
            </a:p>
            <a:p>
              <a:pPr marL="285750" indent="-285750">
                <a:buFont typeface="Wingdings" panose="05000000000000000000" charset="0"/>
                <a:buChar char="l"/>
              </a:pPr>
              <a:r>
                <a:rPr lang="en-US" altLang="zh-CN"/>
                <a:t>Centralized</a:t>
              </a:r>
              <a:endParaRPr lang="en-US" altLang="zh-CN"/>
            </a:p>
            <a:p>
              <a:pPr marL="285750" indent="-285750">
                <a:buFont typeface="Wingdings" panose="05000000000000000000" charset="0"/>
                <a:buChar char="l"/>
              </a:pPr>
              <a:r>
                <a:rPr lang="en-US" altLang="zh-CN"/>
                <a:t>Local-only</a:t>
              </a:r>
              <a:endParaRPr lang="en-US" altLang="zh-CN"/>
            </a:p>
            <a:p>
              <a:pPr marL="285750" indent="-285750">
                <a:buFont typeface="Wingdings" panose="05000000000000000000" charset="0"/>
                <a:buChar char="l"/>
              </a:pPr>
              <a:r>
                <a:rPr lang="en-US" altLang="zh-CN"/>
                <a:t>FedAvg</a:t>
              </a:r>
              <a:endParaRPr lang="en-US" altLang="zh-CN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822" y="6388"/>
              <a:ext cx="4423" cy="1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en-US" altLang="zh-CN" sz="1600">
                  <a:latin typeface="Times New Roman" panose="02020603050405020304" charset="0"/>
                  <a:cs typeface="Times New Roman" panose="02020603050405020304" charset="0"/>
                </a:rPr>
                <a:t>Establish the complete federated learning pipeline under an approximately IID setting.</a:t>
              </a:r>
              <a:endParaRPr lang="en-US" altLang="zh-CN" sz="16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1936" y="3955"/>
              <a:ext cx="351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2" name="组合 11"/>
          <p:cNvGrpSpPr/>
          <p:nvPr/>
        </p:nvGrpSpPr>
        <p:grpSpPr>
          <a:xfrm>
            <a:off x="4309745" y="1746885"/>
            <a:ext cx="2807970" cy="3739515"/>
            <a:chOff x="1527" y="2750"/>
            <a:chExt cx="4422" cy="5889"/>
          </a:xfrm>
        </p:grpSpPr>
        <p:sp>
          <p:nvSpPr>
            <p:cNvPr id="13" name="圆角矩形 12"/>
            <p:cNvSpPr/>
            <p:nvPr/>
          </p:nvSpPr>
          <p:spPr>
            <a:xfrm>
              <a:off x="1527" y="2750"/>
              <a:ext cx="4422" cy="5889"/>
            </a:xfrm>
            <a:prstGeom prst="roundRect">
              <a:avLst/>
            </a:prstGeom>
            <a:noFill/>
            <a:ln w="19050"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938" y="2943"/>
              <a:ext cx="363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</a:rPr>
                <a:t>Stage 1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</a:rPr>
                <a:t>B  </a:t>
              </a:r>
              <a:endParaRPr lang="en-US" altLang="zh-CN"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ctr"/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</a:rPr>
                <a:t>Non-IID Analysis</a:t>
              </a:r>
              <a:endParaRPr lang="en-US" altLang="zh-CN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822" y="4160"/>
              <a:ext cx="3479" cy="1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>
                <a:buFont typeface="Wingdings" panose="05000000000000000000" charset="0"/>
                <a:buChar char="l"/>
              </a:pPr>
              <a:r>
                <a:rPr lang="en-US" altLang="zh-CN"/>
                <a:t>Non-IID Setting</a:t>
              </a:r>
              <a:endParaRPr lang="en-US" altLang="zh-CN"/>
            </a:p>
            <a:p>
              <a:pPr marL="285750" indent="-285750">
                <a:buFont typeface="Wingdings" panose="05000000000000000000" charset="0"/>
                <a:buChar char="l"/>
              </a:pPr>
              <a:r>
                <a:rPr lang="en-US" altLang="zh-CN"/>
                <a:t>Dirichlet Partition</a:t>
              </a:r>
              <a:endParaRPr lang="en-US" altLang="zh-CN"/>
            </a:p>
            <a:p>
              <a:pPr marL="285750" indent="-285750">
                <a:buFont typeface="Wingdings" panose="05000000000000000000" charset="0"/>
                <a:buChar char="l"/>
              </a:pPr>
              <a:r>
                <a:rPr lang="en-US" altLang="zh-CN"/>
                <a:t>α = 10, 1, 0.5, 0.1</a:t>
              </a:r>
              <a:endParaRPr lang="en-US" altLang="zh-CN"/>
            </a:p>
            <a:p>
              <a:pPr indent="0">
                <a:buFont typeface="Wingdings" panose="05000000000000000000" charset="0"/>
                <a:buNone/>
              </a:pPr>
              <a:endParaRPr lang="en-US" altLang="zh-CN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833" y="5876"/>
              <a:ext cx="3867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en-US" altLang="zh-CN" sz="1600">
                  <a:latin typeface="Times New Roman" panose="02020603050405020304" charset="0"/>
                  <a:cs typeface="Times New Roman" panose="02020603050405020304" charset="0"/>
                </a:rPr>
                <a:t>Introduce controlled label skew using Dirichlet client partitions.</a:t>
              </a:r>
              <a:endParaRPr lang="en-US" altLang="zh-CN" sz="16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7" name="直接连接符 16"/>
            <p:cNvCxnSpPr/>
            <p:nvPr/>
          </p:nvCxnSpPr>
          <p:spPr>
            <a:xfrm>
              <a:off x="1936" y="3955"/>
              <a:ext cx="351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8" name="组合 17"/>
          <p:cNvGrpSpPr/>
          <p:nvPr/>
        </p:nvGrpSpPr>
        <p:grpSpPr>
          <a:xfrm>
            <a:off x="7648575" y="1746250"/>
            <a:ext cx="2995930" cy="3739515"/>
            <a:chOff x="1527" y="2750"/>
            <a:chExt cx="4718" cy="5889"/>
          </a:xfrm>
        </p:grpSpPr>
        <p:sp>
          <p:nvSpPr>
            <p:cNvPr id="19" name="圆角矩形 18"/>
            <p:cNvSpPr/>
            <p:nvPr/>
          </p:nvSpPr>
          <p:spPr>
            <a:xfrm>
              <a:off x="1527" y="2750"/>
              <a:ext cx="4422" cy="5889"/>
            </a:xfrm>
            <a:prstGeom prst="roundRect">
              <a:avLst/>
            </a:prstGeom>
            <a:noFill/>
            <a:ln w="19050"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2289" y="2943"/>
              <a:ext cx="285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</a:rPr>
                <a:t>Stage 1</a:t>
              </a:r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</a:rPr>
                <a:t>C  FedProx</a:t>
              </a:r>
              <a:endParaRPr lang="en-US" altLang="zh-CN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822" y="4160"/>
              <a:ext cx="3479" cy="1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>
                <a:buFont typeface="Wingdings" panose="05000000000000000000" charset="0"/>
                <a:buChar char="l"/>
              </a:pPr>
              <a:r>
                <a:rPr lang="en-US" altLang="zh-CN"/>
                <a:t>FedProx</a:t>
              </a:r>
              <a:endParaRPr lang="en-US" altLang="zh-CN"/>
            </a:p>
            <a:p>
              <a:pPr marL="285750" indent="-285750">
                <a:buFont typeface="Wingdings" panose="05000000000000000000" charset="0"/>
                <a:buChar char="l"/>
              </a:pPr>
              <a:r>
                <a:rPr lang="en-US" altLang="zh-CN"/>
                <a:t>μ = 0 vs μ = 0.1</a:t>
              </a:r>
              <a:endParaRPr lang="en-US" altLang="zh-CN"/>
            </a:p>
            <a:p>
              <a:pPr marL="285750" indent="-285750">
                <a:buFont typeface="Wingdings" panose="05000000000000000000" charset="0"/>
                <a:buChar char="l"/>
              </a:pPr>
              <a:r>
                <a:rPr lang="en-US" altLang="zh-CN"/>
                <a:t>α = 0.5 and α = 0.1</a:t>
              </a:r>
              <a:endParaRPr lang="en-US" altLang="zh-CN"/>
            </a:p>
            <a:p>
              <a:pPr indent="0">
                <a:buFont typeface="Wingdings" panose="05000000000000000000" charset="0"/>
                <a:buNone/>
              </a:pPr>
              <a:endParaRPr lang="en-US" altLang="zh-CN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822" y="6388"/>
              <a:ext cx="4423" cy="1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en-US" altLang="zh-CN" sz="1600">
                  <a:latin typeface="Times New Roman" panose="02020603050405020304" charset="0"/>
                  <a:cs typeface="Times New Roman" panose="02020603050405020304" charset="0"/>
                </a:rPr>
                <a:t>Evaluate whether proximal regularisation improves robustness under strong label skew.</a:t>
              </a:r>
              <a:endParaRPr lang="en-US" altLang="zh-CN" sz="16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1936" y="3955"/>
              <a:ext cx="351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24" name="文本框 23"/>
          <p:cNvSpPr txBox="1"/>
          <p:nvPr/>
        </p:nvSpPr>
        <p:spPr>
          <a:xfrm>
            <a:off x="4570095" y="4591050"/>
            <a:ext cx="23825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Severe degradation emerged at α = 0.1.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918845" y="5774690"/>
            <a:ext cx="9551035" cy="80073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Control Principle:</a:t>
            </a:r>
            <a:endParaRPr lang="en-US" altLang="zh-CN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Keep the dataset, model, client partitions and training budget fixed, and change one research factor at a time.</a:t>
            </a:r>
            <a:endParaRPr lang="en-US" altLang="zh-CN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6" name="图片 25" descr="感叹号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41440" y="4591050"/>
            <a:ext cx="436245" cy="436245"/>
          </a:xfrm>
          <a:prstGeom prst="rect">
            <a:avLst/>
          </a:prstGeom>
        </p:spPr>
      </p:pic>
      <p:pic>
        <p:nvPicPr>
          <p:cNvPr id="27" name="图片 26" descr="e6732eba4544cb58b29434fe02bf222e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82670" y="3141980"/>
            <a:ext cx="914400" cy="914400"/>
          </a:xfrm>
          <a:prstGeom prst="rect">
            <a:avLst/>
          </a:prstGeom>
        </p:spPr>
      </p:pic>
      <p:pic>
        <p:nvPicPr>
          <p:cNvPr id="28" name="图片 27" descr="e6732eba4544cb58b29434fe02bf222e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66585" y="314198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7648575" y="4869180"/>
            <a:ext cx="4446905" cy="171132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2857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69545"/>
            <a:ext cx="10515600" cy="799465"/>
          </a:xfrm>
        </p:spPr>
        <p:txBody>
          <a:bodyPr/>
          <a:p>
            <a:r>
              <a:rPr lang="en-US" altLang="zh-CN" sz="3555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Dataset and Experimental Setup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399415" y="892175"/>
            <a:ext cx="5732145" cy="24841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Dataset</a:t>
            </a:r>
            <a:endParaRPr lang="en-US" altLang="zh-CN" sz="28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GTSRB traffic-sign classification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39,209 training images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12,630 official test images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43 traffic-sign classes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RGB images resized to 32 × 32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6185" y="1139825"/>
            <a:ext cx="1615440" cy="215328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765925" y="875030"/>
            <a:ext cx="6172200" cy="23685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Federated Setting</a:t>
            </a:r>
            <a:endParaRPr lang="en-US" altLang="zh-CN"/>
          </a:p>
          <a:p>
            <a:pPr marL="342900" indent="-342900" algn="l">
              <a:buClrTx/>
              <a:buSzTx/>
              <a:buFont typeface="Wingdings" panose="05000000000000000000" charset="0"/>
              <a:buChar char="Ø"/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5 simulated clients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>
              <a:buClrTx/>
              <a:buSzTx/>
              <a:buFont typeface="Wingdings" panose="05000000000000000000" charset="0"/>
              <a:buChar char="Ø"/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All clients participate in each round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>
              <a:buClrTx/>
              <a:buSzTx/>
              <a:buFont typeface="Wingdings" panose="05000000000000000000" charset="0"/>
              <a:buChar char="Ø"/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1 local epoch per communication round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>
              <a:buClrTx/>
              <a:buSzTx/>
              <a:buFont typeface="Wingdings" panose="05000000000000000000" charset="0"/>
              <a:buChar char="Ø"/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Batch size: 64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>
              <a:buClrTx/>
              <a:buSzTx/>
              <a:buFont typeface="Wingdings" panose="05000000000000000000" charset="0"/>
              <a:buChar char="Ø"/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Formal training budget: 160 rounds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99415" y="3364865"/>
            <a:ext cx="62515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Classification Model</a:t>
            </a:r>
            <a:endParaRPr lang="en-US" altLang="zh-CN"/>
          </a:p>
        </p:txBody>
      </p:sp>
      <p:pic>
        <p:nvPicPr>
          <p:cNvPr id="9" name="图片 8" descr="best_global_model.h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55" y="3858260"/>
            <a:ext cx="10669270" cy="84645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65455" y="4895850"/>
            <a:ext cx="10828655" cy="1999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Evaluation Metrics</a:t>
            </a:r>
            <a:endParaRPr lang="en-US" altLang="zh-CN"/>
          </a:p>
          <a:p>
            <a:pPr marL="342900" indent="-342900" algn="l">
              <a:buClrTx/>
              <a:buSzTx/>
              <a:buFont typeface="Wingdings" panose="05000000000000000000" charset="0"/>
              <a:buChar char="Ø"/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Official Test Accuracy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>
              <a:buClrTx/>
              <a:buSzTx/>
              <a:buFont typeface="Wingdings" panose="05000000000000000000" charset="0"/>
              <a:buChar char="Ø"/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Macro Class Accuracy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>
              <a:buClrTx/>
              <a:buSzTx/>
              <a:buFont typeface="Wingdings" panose="05000000000000000000" charset="0"/>
              <a:buChar char="Ø"/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Test Loss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>
              <a:buClrTx/>
              <a:buSzTx/>
              <a:buFont typeface="Wingdings" panose="05000000000000000000" charset="0"/>
              <a:buChar char="Ø"/>
            </a:pP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457700" y="5388610"/>
            <a:ext cx="56235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algn="l">
              <a:buClrTx/>
              <a:buSzTx/>
              <a:buFont typeface="Wingdings" panose="05000000000000000000" charset="0"/>
              <a:buChar char="Ø"/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Per-class Accuracy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l">
              <a:buClrTx/>
              <a:buSzTx/>
              <a:buFont typeface="Wingdings" panose="05000000000000000000" charset="0"/>
              <a:buChar char="Ø"/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Confusion Matrix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zh-CN" altLang="en-US" sz="2400"/>
          </a:p>
        </p:txBody>
      </p:sp>
      <p:sp>
        <p:nvSpPr>
          <p:cNvPr id="12" name="文本框 11"/>
          <p:cNvSpPr txBox="1"/>
          <p:nvPr/>
        </p:nvSpPr>
        <p:spPr>
          <a:xfrm>
            <a:off x="7836535" y="5057140"/>
            <a:ext cx="4013200" cy="1229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Controlled across comparisons:</a:t>
            </a:r>
            <a:r>
              <a:rPr lang="en-US" altLang="zh-CN"/>
              <a:t> dataset, client partitions, model architecture, random seed, official test set and training budget.</a:t>
            </a:r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5000"/>
          </a:xfrm>
        </p:spPr>
        <p:txBody>
          <a:bodyPr/>
          <a:p>
            <a:r>
              <a:rPr lang="en-US" altLang="zh-CN" sz="3555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Federated Learning Workflow</a:t>
            </a:r>
            <a:endParaRPr lang="en-US" altLang="zh-CN" sz="3555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内容占位符 3" descr="联邦学习流程图_英文版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16560" y="1170940"/>
            <a:ext cx="6383655" cy="346900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16635" y="4810760"/>
            <a:ext cx="41941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Federated Learning Workflow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Illustration only; formal experiments used 5 clients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8" name="组合 7"/>
          <p:cNvGrpSpPr/>
          <p:nvPr>
            <p:custDataLst>
              <p:tags r:id="rId2"/>
            </p:custDataLst>
          </p:nvPr>
        </p:nvGrpSpPr>
        <p:grpSpPr>
          <a:xfrm>
            <a:off x="7193280" y="538480"/>
            <a:ext cx="4569460" cy="938530"/>
            <a:chOff x="11328" y="1568"/>
            <a:chExt cx="7196" cy="1478"/>
          </a:xfrm>
        </p:grpSpPr>
        <p:sp>
          <p:nvSpPr>
            <p:cNvPr id="7" name="圆角矩形 6"/>
            <p:cNvSpPr/>
            <p:nvPr>
              <p:custDataLst>
                <p:tags r:id="rId3"/>
              </p:custDataLst>
            </p:nvPr>
          </p:nvSpPr>
          <p:spPr>
            <a:xfrm>
              <a:off x="11328" y="1568"/>
              <a:ext cx="7196" cy="147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>
              <p:custDataLst>
                <p:tags r:id="rId4"/>
              </p:custDataLst>
            </p:nvPr>
          </p:nvSpPr>
          <p:spPr>
            <a:xfrm>
              <a:off x="11447" y="1794"/>
              <a:ext cx="6912" cy="105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</a:rPr>
                <a:t>Step1:Global Model Distribution</a:t>
              </a:r>
              <a:endPara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r>
                <a:rPr lang="en-US" altLang="zh-CN"/>
                <a:t>Server broadcasts the current global model</a:t>
              </a:r>
              <a:endParaRPr lang="en-US" altLang="zh-CN"/>
            </a:p>
            <a:p>
              <a:endParaRPr lang="en-US" altLang="zh-CN"/>
            </a:p>
            <a:p>
              <a:endParaRPr lang="zh-CN" altLang="en-US"/>
            </a:p>
          </p:txBody>
        </p:sp>
      </p:grp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7193280" y="1734185"/>
            <a:ext cx="4569460" cy="938530"/>
            <a:chOff x="11328" y="1568"/>
            <a:chExt cx="7196" cy="1478"/>
          </a:xfrm>
        </p:grpSpPr>
        <p:sp>
          <p:nvSpPr>
            <p:cNvPr id="10" name="圆角矩形 9"/>
            <p:cNvSpPr/>
            <p:nvPr>
              <p:custDataLst>
                <p:tags r:id="rId6"/>
              </p:custDataLst>
            </p:nvPr>
          </p:nvSpPr>
          <p:spPr>
            <a:xfrm>
              <a:off x="11328" y="1568"/>
              <a:ext cx="7196" cy="147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>
              <p:custDataLst>
                <p:tags r:id="rId7"/>
              </p:custDataLst>
            </p:nvPr>
          </p:nvSpPr>
          <p:spPr>
            <a:xfrm>
              <a:off x="11447" y="1805"/>
              <a:ext cx="6912" cy="105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</a:rPr>
                <a:t>Step2:Local Training</a:t>
              </a:r>
              <a:endPara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r>
                <a:rPr lang="en-US" altLang="zh-CN"/>
                <a:t>Each client trains for one local epoch</a:t>
              </a:r>
              <a:endParaRPr lang="en-US" altLang="zh-CN"/>
            </a:p>
            <a:p>
              <a:endParaRPr lang="en-US" altLang="zh-CN"/>
            </a:p>
            <a:p>
              <a:endParaRPr lang="zh-CN" altLang="en-US"/>
            </a:p>
          </p:txBody>
        </p:sp>
      </p:grpSp>
      <p:grpSp>
        <p:nvGrpSpPr>
          <p:cNvPr id="12" name="组合 11"/>
          <p:cNvGrpSpPr/>
          <p:nvPr>
            <p:custDataLst>
              <p:tags r:id="rId8"/>
            </p:custDataLst>
          </p:nvPr>
        </p:nvGrpSpPr>
        <p:grpSpPr>
          <a:xfrm>
            <a:off x="7193280" y="2901315"/>
            <a:ext cx="4569460" cy="938530"/>
            <a:chOff x="11328" y="1513"/>
            <a:chExt cx="7196" cy="1478"/>
          </a:xfrm>
        </p:grpSpPr>
        <p:sp>
          <p:nvSpPr>
            <p:cNvPr id="13" name="圆角矩形 12"/>
            <p:cNvSpPr/>
            <p:nvPr>
              <p:custDataLst>
                <p:tags r:id="rId9"/>
              </p:custDataLst>
            </p:nvPr>
          </p:nvSpPr>
          <p:spPr>
            <a:xfrm>
              <a:off x="11328" y="1513"/>
              <a:ext cx="7196" cy="147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>
              <p:custDataLst>
                <p:tags r:id="rId10"/>
              </p:custDataLst>
            </p:nvPr>
          </p:nvSpPr>
          <p:spPr>
            <a:xfrm>
              <a:off x="11447" y="1805"/>
              <a:ext cx="6912" cy="105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</a:rPr>
                <a:t>Step3:Model Update Upload</a:t>
              </a:r>
              <a:endPara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Clients upload model parameters or updates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endParaRPr lang="en-US" altLang="zh-CN"/>
            </a:p>
            <a:p>
              <a:endParaRPr lang="zh-CN" altLang="en-US"/>
            </a:p>
          </p:txBody>
        </p:sp>
      </p:grpSp>
      <p:grpSp>
        <p:nvGrpSpPr>
          <p:cNvPr id="15" name="组合 14"/>
          <p:cNvGrpSpPr/>
          <p:nvPr>
            <p:custDataLst>
              <p:tags r:id="rId11"/>
            </p:custDataLst>
          </p:nvPr>
        </p:nvGrpSpPr>
        <p:grpSpPr>
          <a:xfrm>
            <a:off x="7198360" y="4107815"/>
            <a:ext cx="4569460" cy="938530"/>
            <a:chOff x="11427" y="1568"/>
            <a:chExt cx="7196" cy="1478"/>
          </a:xfrm>
        </p:grpSpPr>
        <p:sp>
          <p:nvSpPr>
            <p:cNvPr id="16" name="圆角矩形 15"/>
            <p:cNvSpPr/>
            <p:nvPr>
              <p:custDataLst>
                <p:tags r:id="rId12"/>
              </p:custDataLst>
            </p:nvPr>
          </p:nvSpPr>
          <p:spPr>
            <a:xfrm>
              <a:off x="11427" y="1568"/>
              <a:ext cx="7196" cy="147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>
              <p:custDataLst>
                <p:tags r:id="rId13"/>
              </p:custDataLst>
            </p:nvPr>
          </p:nvSpPr>
          <p:spPr>
            <a:xfrm>
              <a:off x="11447" y="1640"/>
              <a:ext cx="6912" cy="105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</a:rPr>
                <a:t>Step4:Weighted Aggregation</a:t>
              </a:r>
              <a:endPara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The server aggregates updates according to client sample sizes</a:t>
              </a:r>
              <a:endPara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endParaRPr lang="en-US" altLang="zh-CN"/>
            </a:p>
            <a:p>
              <a:endParaRPr lang="zh-CN" altLang="en-US"/>
            </a:p>
          </p:txBody>
        </p:sp>
      </p:grpSp>
      <p:grpSp>
        <p:nvGrpSpPr>
          <p:cNvPr id="19" name="组合 18"/>
          <p:cNvGrpSpPr/>
          <p:nvPr>
            <p:custDataLst>
              <p:tags r:id="rId14"/>
            </p:custDataLst>
          </p:nvPr>
        </p:nvGrpSpPr>
        <p:grpSpPr>
          <a:xfrm>
            <a:off x="7198360" y="5305425"/>
            <a:ext cx="4569460" cy="938530"/>
            <a:chOff x="11427" y="1568"/>
            <a:chExt cx="7196" cy="1478"/>
          </a:xfrm>
        </p:grpSpPr>
        <p:sp>
          <p:nvSpPr>
            <p:cNvPr id="20" name="圆角矩形 19"/>
            <p:cNvSpPr/>
            <p:nvPr>
              <p:custDataLst>
                <p:tags r:id="rId15"/>
              </p:custDataLst>
            </p:nvPr>
          </p:nvSpPr>
          <p:spPr>
            <a:xfrm>
              <a:off x="11427" y="1568"/>
              <a:ext cx="7196" cy="147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>
              <p:custDataLst>
                <p:tags r:id="rId16"/>
              </p:custDataLst>
            </p:nvPr>
          </p:nvSpPr>
          <p:spPr>
            <a:xfrm>
              <a:off x="11447" y="1849"/>
              <a:ext cx="6912" cy="105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</a:rPr>
                <a:t>Step5:Next Communication Round</a:t>
              </a:r>
              <a:endParaRPr lang="en-US" altLang="zh-CN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r>
                <a:rPr lang="en-US" altLang="zh-CN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The updated global model is redistributed</a:t>
              </a:r>
              <a:endPara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endParaRPr lang="en-US" altLang="zh-CN"/>
            </a:p>
            <a:p>
              <a:endParaRPr lang="zh-CN" altLang="en-US"/>
            </a:p>
          </p:txBody>
        </p:sp>
      </p:grpSp>
      <p:pic>
        <p:nvPicPr>
          <p:cNvPr id="23" name="图片 22" descr="d38e37517c02f3024112e611819cee13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994140" y="1378585"/>
            <a:ext cx="822325" cy="480695"/>
          </a:xfrm>
          <a:prstGeom prst="rect">
            <a:avLst/>
          </a:prstGeom>
        </p:spPr>
      </p:pic>
      <p:pic>
        <p:nvPicPr>
          <p:cNvPr id="24" name="图片 23" descr="d38e37517c02f3024112e611819cee13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966200" y="2552065"/>
            <a:ext cx="822325" cy="480695"/>
          </a:xfrm>
          <a:prstGeom prst="rect">
            <a:avLst/>
          </a:prstGeom>
        </p:spPr>
      </p:pic>
      <p:pic>
        <p:nvPicPr>
          <p:cNvPr id="25" name="图片 24" descr="d38e37517c02f3024112e611819cee13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959215" y="3711575"/>
            <a:ext cx="822325" cy="480695"/>
          </a:xfrm>
          <a:prstGeom prst="rect">
            <a:avLst/>
          </a:prstGeom>
        </p:spPr>
      </p:pic>
      <p:pic>
        <p:nvPicPr>
          <p:cNvPr id="26" name="图片 25" descr="d38e37517c02f3024112e611819cee13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994140" y="4914265"/>
            <a:ext cx="822325" cy="480695"/>
          </a:xfrm>
          <a:prstGeom prst="rect">
            <a:avLst/>
          </a:prstGeom>
        </p:spPr>
      </p:pic>
      <p:pic>
        <p:nvPicPr>
          <p:cNvPr id="27" name="图片 26"/>
          <p:cNvPicPr/>
          <p:nvPr/>
        </p:nvPicPr>
        <p:blipFill>
          <a:blip r:embed="rId23"/>
          <a:stretch>
            <a:fillRect/>
          </a:stretch>
        </p:blipFill>
        <p:spPr>
          <a:xfrm>
            <a:off x="1554480" y="5394960"/>
            <a:ext cx="3118485" cy="675640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672465" y="6019800"/>
            <a:ext cx="62585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Clients with more training samples receive larger aggregation weights.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9485"/>
          </a:xfrm>
        </p:spPr>
        <p:txBody>
          <a:bodyPr>
            <a:normAutofit/>
          </a:bodyPr>
          <a:p>
            <a:r>
              <a:rPr lang="en-US" altLang="zh-CN" sz="3555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Stage 1A: Baseline Comparison</a:t>
            </a:r>
            <a:br>
              <a:rPr lang="en-US" altLang="zh-CN" sz="3555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zh-CN" sz="222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Centralized vs Local-only vs FedAvg under an approximately IID setting</a:t>
            </a:r>
            <a:endParaRPr lang="en-US" altLang="zh-CN" sz="222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838200" y="1381760"/>
          <a:ext cx="8533765" cy="15240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844165"/>
                <a:gridCol w="2844165"/>
                <a:gridCol w="2844165"/>
              </a:tblGrid>
              <a:tr h="381000">
                <a:tc>
                  <a:txBody>
                    <a:bodyPr/>
                    <a:p>
                      <a:pPr marL="0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2000"/>
                        <a:t>Method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2000"/>
                        <a:t>Test Accuracy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2000"/>
                        <a:t>Macro Class Accuracy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</a:tr>
              <a:tr h="381000">
                <a:tc>
                  <a:txBody>
                    <a:bodyPr/>
                    <a:p>
                      <a:pPr marL="0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2000"/>
                        <a:t>Centralized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2000"/>
                        <a:t>91.16%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2000"/>
                        <a:t>88.44%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</a:tr>
              <a:tr h="381000">
                <a:tc>
                  <a:txBody>
                    <a:bodyPr/>
                    <a:p>
                      <a:pPr marL="0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2000"/>
                        <a:t>Local-only Mean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2000"/>
                        <a:t>60.11%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2000"/>
                        <a:t>49.67%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</a:tr>
              <a:tr h="381000">
                <a:tc>
                  <a:txBody>
                    <a:bodyPr/>
                    <a:p>
                      <a:pPr marL="0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2000"/>
                        <a:t>FedAvg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2000"/>
                        <a:t>92.60%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2000"/>
                        <a:t>89.44%</a:t>
                      </a:r>
                      <a:endParaRPr lang="en-US" altLang="zh-CN" sz="2000"/>
                    </a:p>
                  </a:txBody>
                  <a:tcPr marL="68580" marR="68580" marT="0" marB="0" anchor="t" anchorCtr="0"/>
                </a:tc>
              </a:tr>
            </a:tbl>
          </a:graphicData>
        </a:graphic>
      </p:graphicFrame>
      <p:pic>
        <p:nvPicPr>
          <p:cNvPr id="7" name="图片 6" descr="accuracy_curv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3006725"/>
            <a:ext cx="5897880" cy="368681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271385" y="3429000"/>
            <a:ext cx="43243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Local-only &lt; FedAvg ≈ Centralized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351395" y="4189095"/>
            <a:ext cx="392684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FedAvg and Centralized used different training budgets; the numerical difference should not be interpreted as strict superiority.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59180"/>
          </a:xfrm>
        </p:spPr>
        <p:txBody>
          <a:bodyPr/>
          <a:p>
            <a:r>
              <a:rPr lang="en-US" altLang="zh-CN" sz="3555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Stage 1B: Non-IID Client Data Distributions</a:t>
            </a:r>
            <a:br>
              <a:rPr lang="en-US" altLang="zh-CN" sz="3555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zh-CN" sz="222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Controlled label skew using Dirichlet partitions</a:t>
            </a:r>
            <a:endParaRPr lang="en-US" altLang="zh-CN" sz="3555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图片 4" descr="client_class_distribution_rati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478280"/>
            <a:ext cx="7128000" cy="2061845"/>
          </a:xfrm>
          <a:prstGeom prst="rect">
            <a:avLst/>
          </a:prstGeom>
        </p:spPr>
      </p:pic>
      <p:pic>
        <p:nvPicPr>
          <p:cNvPr id="6" name="图片 5" descr="client_class_distribution_rati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776345"/>
            <a:ext cx="7126369" cy="20628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174990" y="2002155"/>
            <a:ext cx="378904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Near-IID: α = 10</a:t>
            </a:r>
            <a:endParaRPr lang="en-US" altLang="zh-CN" sz="20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All five clients cover all 43 classes.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Mean JS divergence: 0.008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150860" y="4300855"/>
            <a:ext cx="407098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en-US" altLang="zh-CN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Extreme Non-IID: α = 0.1</a:t>
            </a:r>
            <a:endParaRPr lang="en-US" altLang="zh-CN" sz="20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ClrTx/>
              <a:buSzTx/>
              <a:buNone/>
            </a:pPr>
            <a:r>
              <a:rPr lang="en-US" altLang="zh-CN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Only 16–24 classes per client.</a:t>
            </a:r>
            <a:endParaRPr lang="en-US" altLang="zh-CN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ClrTx/>
              <a:buSzTx/>
              <a:buNone/>
            </a:pPr>
            <a:r>
              <a:rPr lang="en-US" altLang="zh-CN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Mean JS divergence: 0.315</a:t>
            </a:r>
            <a:endParaRPr lang="en-US" altLang="zh-CN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031875" y="5940425"/>
            <a:ext cx="10770235" cy="77978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169035" y="5993765"/>
            <a:ext cx="103949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Only the client data allocation was changed; the model, training budget and official test set remained fixed.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0265"/>
          </a:xfrm>
        </p:spPr>
        <p:txBody>
          <a:bodyPr>
            <a:normAutofit fontScale="90000"/>
          </a:bodyPr>
          <a:p>
            <a:r>
              <a:rPr lang="en-US" altLang="zh-CN" sz="3555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Stage 1B: FedAvg Performance under Increasing Non-IID</a:t>
            </a:r>
            <a:br>
              <a:rPr lang="en-US" altLang="zh-CN"/>
            </a:br>
            <a:r>
              <a:rPr lang="en-US" altLang="zh-CN" sz="222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Overall performance remained stable until extreme label skew</a:t>
            </a:r>
            <a:endParaRPr lang="en-US" altLang="zh-CN"/>
          </a:p>
        </p:txBody>
      </p:sp>
      <p:pic>
        <p:nvPicPr>
          <p:cNvPr id="6" name="图片 5" descr="Stage1B_FedAvg_Performance_Increasing_Label_Sk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311910"/>
            <a:ext cx="7223760" cy="4102735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8260715" y="1334770"/>
            <a:ext cx="3696335" cy="43561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642985" y="1536700"/>
            <a:ext cx="2576830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Key Findings</a:t>
            </a:r>
            <a:endParaRPr lang="en-US" altLang="zh-CN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α = 10 and α = 1.0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Performance remained close to the IID baseline.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α = 0.5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Test accuracy: 91.77%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Macro accuracy: 87.27%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α = 0.1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Test accuracy: 71.49%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Macro accuracy: 69.42%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945515" y="5861050"/>
            <a:ext cx="10770235" cy="77978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235710" y="5912485"/>
            <a:ext cx="93700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Main Takeaway: FedAvg was robust to mild and moderate label skew, but degraded sharply under extreme heterogeneity.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56540"/>
            <a:ext cx="10515600" cy="914400"/>
          </a:xfrm>
        </p:spPr>
        <p:txBody>
          <a:bodyPr>
            <a:normAutofit/>
          </a:bodyPr>
          <a:p>
            <a:r>
              <a:rPr lang="en-US" altLang="zh-CN" sz="3555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Stage 1C-A1: FedProx under Strong Label Skew</a:t>
            </a:r>
            <a:br>
              <a:rPr lang="en-US" altLang="zh-CN"/>
            </a:br>
            <a:r>
              <a:rPr lang="en-US" altLang="zh-CN" sz="222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Constraining local models from drifting too far from the global model</a:t>
            </a:r>
            <a:endParaRPr lang="en-US" altLang="zh-CN"/>
          </a:p>
        </p:txBody>
      </p:sp>
      <p:pic>
        <p:nvPicPr>
          <p:cNvPr id="4" name="图片 3" descr="alpha01_val_accuracy_curv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70940"/>
            <a:ext cx="8229600" cy="4572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103360" y="3103245"/>
            <a:ext cx="259143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μ = 0: FedAvg-equivalent control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μ = 0.1: FedProx with proximal regularisation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031875" y="5940425"/>
            <a:ext cx="10770235" cy="77978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325245" y="6120130"/>
            <a:ext cx="100342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Same initial model, partition, data order, optimiser and training budget; only μ was changed.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1990" y="2026285"/>
            <a:ext cx="3785235" cy="574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0420"/>
          </a:xfrm>
        </p:spPr>
        <p:txBody>
          <a:bodyPr>
            <a:normAutofit fontScale="90000"/>
          </a:bodyPr>
          <a:p>
            <a:r>
              <a:rPr lang="en-US" altLang="zh-CN" sz="3555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Stage 1C-A1: Strictly Paired FedProx Results</a:t>
            </a:r>
            <a:br>
              <a:rPr lang="en-US" altLang="zh-CN" sz="3555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zh-CN" sz="222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FedProx improved both overall and class-balanced performance</a:t>
            </a:r>
            <a:endParaRPr lang="en-US" altLang="zh-CN" sz="3555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图片 3" descr="stage1ca1_macro_accuracy_gain_by_alph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675" y="1491615"/>
            <a:ext cx="5040000" cy="3600275"/>
          </a:xfrm>
          <a:prstGeom prst="rect">
            <a:avLst/>
          </a:prstGeom>
        </p:spPr>
      </p:pic>
      <p:pic>
        <p:nvPicPr>
          <p:cNvPr id="5" name="图片 4" descr="stage1ca1_test_accuracy_gain_by_alph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315" y="1491615"/>
            <a:ext cx="5040000" cy="3600000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3863975" y="5615940"/>
            <a:ext cx="6172835" cy="749935"/>
            <a:chOff x="5209" y="8844"/>
            <a:chExt cx="9721" cy="1181"/>
          </a:xfrm>
        </p:grpSpPr>
        <p:sp>
          <p:nvSpPr>
            <p:cNvPr id="9" name="圆角矩形 8"/>
            <p:cNvSpPr/>
            <p:nvPr/>
          </p:nvSpPr>
          <p:spPr>
            <a:xfrm>
              <a:off x="5209" y="8845"/>
              <a:ext cx="7050" cy="1181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8575"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5302" y="8844"/>
              <a:ext cx="9629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000">
                  <a:latin typeface="Times New Roman" panose="02020603050405020304" charset="0"/>
                  <a:cs typeface="Times New Roman" panose="02020603050405020304" charset="0"/>
                </a:rPr>
                <a:t>α = 0.1: Test +7.02 pp · Macro +7.19 pp</a:t>
              </a:r>
              <a:endParaRPr lang="en-US" altLang="zh-CN" sz="2000">
                <a:latin typeface="Times New Roman" panose="02020603050405020304" charset="0"/>
                <a:cs typeface="Times New Roman" panose="02020603050405020304" charset="0"/>
              </a:endParaRPr>
            </a:p>
            <a:p>
              <a:r>
                <a:rPr lang="en-US" altLang="zh-CN" sz="2000">
                  <a:latin typeface="Times New Roman" panose="02020603050405020304" charset="0"/>
                  <a:cs typeface="Times New Roman" panose="02020603050405020304" charset="0"/>
                </a:rPr>
                <a:t>α = 0.5: Test +4.46 pp · Macro +5.35 pp</a:t>
              </a:r>
              <a:endParaRPr lang="en-US" altLang="zh-CN" sz="2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5425"/>
            <a:ext cx="10515600" cy="850265"/>
          </a:xfrm>
        </p:spPr>
        <p:txBody>
          <a:bodyPr/>
          <a:p>
            <a:r>
              <a:rPr lang="en-US" altLang="zh-CN" sz="3555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Conclusions, Limitations and Future Work</a:t>
            </a:r>
            <a:endParaRPr lang="en-US" altLang="zh-CN"/>
          </a:p>
        </p:txBody>
      </p:sp>
      <p:grpSp>
        <p:nvGrpSpPr>
          <p:cNvPr id="7" name="组合 6"/>
          <p:cNvGrpSpPr/>
          <p:nvPr/>
        </p:nvGrpSpPr>
        <p:grpSpPr>
          <a:xfrm>
            <a:off x="300990" y="1036320"/>
            <a:ext cx="6525260" cy="5349240"/>
            <a:chOff x="606" y="1852"/>
            <a:chExt cx="10276" cy="8424"/>
          </a:xfrm>
        </p:grpSpPr>
        <p:sp>
          <p:nvSpPr>
            <p:cNvPr id="4" name="圆角矩形 3"/>
            <p:cNvSpPr/>
            <p:nvPr/>
          </p:nvSpPr>
          <p:spPr>
            <a:xfrm>
              <a:off x="606" y="1852"/>
              <a:ext cx="10277" cy="842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061" y="2117"/>
              <a:ext cx="9730" cy="805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2400" b="1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</a:rPr>
                <a:t>Key Conclusions</a:t>
              </a:r>
              <a:endParaRPr lang="en-US" altLang="zh-CN" sz="24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r>
                <a:rPr lang="en-US" altLang="zh-CN" sz="2150">
                  <a:latin typeface="Times New Roman" panose="02020603050405020304" charset="0"/>
                  <a:cs typeface="Times New Roman" panose="02020603050405020304" charset="0"/>
                </a:rPr>
                <a:t>1. </a:t>
              </a:r>
              <a:r>
                <a:rPr lang="en-US" altLang="zh-CN" sz="2150" b="1">
                  <a:latin typeface="Times New Roman" panose="02020603050405020304" charset="0"/>
                  <a:cs typeface="Times New Roman" panose="02020603050405020304" charset="0"/>
                </a:rPr>
                <a:t>FedAvg was effective under approximately IID data.</a:t>
              </a:r>
              <a:endParaRPr lang="en-US" altLang="zh-CN" sz="2150">
                <a:latin typeface="Times New Roman" panose="02020603050405020304" charset="0"/>
                <a:cs typeface="Times New Roman" panose="02020603050405020304" charset="0"/>
              </a:endParaRPr>
            </a:p>
            <a:p>
              <a:r>
                <a:rPr lang="en-US" altLang="zh-CN" sz="2150">
                  <a:latin typeface="Times New Roman" panose="02020603050405020304" charset="0"/>
                  <a:cs typeface="Times New Roman" panose="02020603050405020304" charset="0"/>
                </a:rPr>
                <a:t>It substantially outperformed Local-only training and achieved performance comparable to Centralized training.</a:t>
              </a:r>
              <a:endParaRPr lang="en-US" altLang="zh-CN" sz="2150">
                <a:latin typeface="Times New Roman" panose="02020603050405020304" charset="0"/>
                <a:cs typeface="Times New Roman" panose="02020603050405020304" charset="0"/>
              </a:endParaRPr>
            </a:p>
            <a:p>
              <a:r>
                <a:rPr lang="en-US" altLang="zh-CN" sz="2150">
                  <a:latin typeface="Times New Roman" panose="02020603050405020304" charset="0"/>
                  <a:cs typeface="Times New Roman" panose="02020603050405020304" charset="0"/>
                </a:rPr>
                <a:t>2. </a:t>
              </a:r>
              <a:r>
                <a:rPr lang="en-US" altLang="zh-CN" sz="2150" b="1">
                  <a:latin typeface="Times New Roman" panose="02020603050405020304" charset="0"/>
                  <a:cs typeface="Times New Roman" panose="02020603050405020304" charset="0"/>
                </a:rPr>
                <a:t>FedAvg was robust to moderate label skew.</a:t>
              </a:r>
              <a:endParaRPr lang="en-US" altLang="zh-CN" sz="2150">
                <a:latin typeface="Times New Roman" panose="02020603050405020304" charset="0"/>
                <a:cs typeface="Times New Roman" panose="02020603050405020304" charset="0"/>
              </a:endParaRPr>
            </a:p>
            <a:p>
              <a:r>
                <a:rPr lang="en-US" altLang="zh-CN" sz="2150">
                  <a:latin typeface="Times New Roman" panose="02020603050405020304" charset="0"/>
                  <a:cs typeface="Times New Roman" panose="02020603050405020304" charset="0"/>
                </a:rPr>
                <a:t>Performance remained stable at α ≥ 1, but class-level degradation appeared at α = 0.5.</a:t>
              </a:r>
              <a:endParaRPr lang="en-US" altLang="zh-CN" sz="2150">
                <a:latin typeface="Times New Roman" panose="02020603050405020304" charset="0"/>
                <a:cs typeface="Times New Roman" panose="02020603050405020304" charset="0"/>
              </a:endParaRPr>
            </a:p>
            <a:p>
              <a:r>
                <a:rPr lang="en-US" altLang="zh-CN" sz="2150">
                  <a:latin typeface="Times New Roman" panose="02020603050405020304" charset="0"/>
                  <a:cs typeface="Times New Roman" panose="02020603050405020304" charset="0"/>
                </a:rPr>
                <a:t>3. </a:t>
              </a:r>
              <a:r>
                <a:rPr lang="en-US" altLang="zh-CN" sz="2150" b="1">
                  <a:latin typeface="Times New Roman" panose="02020603050405020304" charset="0"/>
                  <a:cs typeface="Times New Roman" panose="02020603050405020304" charset="0"/>
                </a:rPr>
                <a:t>Extreme label skew caused severe degradation.</a:t>
              </a:r>
              <a:endParaRPr lang="en-US" altLang="zh-CN" sz="2150" b="1">
                <a:latin typeface="Times New Roman" panose="02020603050405020304" charset="0"/>
                <a:cs typeface="Times New Roman" panose="02020603050405020304" charset="0"/>
              </a:endParaRPr>
            </a:p>
            <a:p>
              <a:r>
                <a:rPr lang="en-US" altLang="zh-CN" sz="2150">
                  <a:latin typeface="Times New Roman" panose="02020603050405020304" charset="0"/>
                  <a:cs typeface="Times New Roman" panose="02020603050405020304" charset="0"/>
                </a:rPr>
                <a:t>At α = 0.1, both test and macro accuracy dropped sharply.</a:t>
              </a:r>
              <a:endParaRPr lang="en-US" altLang="zh-CN" sz="2150">
                <a:latin typeface="Times New Roman" panose="02020603050405020304" charset="0"/>
                <a:cs typeface="Times New Roman" panose="02020603050405020304" charset="0"/>
              </a:endParaRPr>
            </a:p>
            <a:p>
              <a:r>
                <a:rPr lang="en-US" altLang="zh-CN" sz="2150">
                  <a:latin typeface="Times New Roman" panose="02020603050405020304" charset="0"/>
                  <a:cs typeface="Times New Roman" panose="02020603050405020304" charset="0"/>
                </a:rPr>
                <a:t>4. </a:t>
              </a:r>
              <a:r>
                <a:rPr lang="en-US" altLang="zh-CN" sz="2150" b="1">
                  <a:latin typeface="Times New Roman" panose="02020603050405020304" charset="0"/>
                  <a:cs typeface="Times New Roman" panose="02020603050405020304" charset="0"/>
                </a:rPr>
                <a:t>FedProx provided a consistent partial mitigation.</a:t>
              </a:r>
              <a:endParaRPr lang="en-US" altLang="zh-CN" sz="2150">
                <a:latin typeface="Times New Roman" panose="02020603050405020304" charset="0"/>
                <a:cs typeface="Times New Roman" panose="02020603050405020304" charset="0"/>
              </a:endParaRPr>
            </a:p>
            <a:p>
              <a:r>
                <a:rPr lang="en-US" altLang="zh-CN" sz="2150">
                  <a:latin typeface="Times New Roman" panose="02020603050405020304" charset="0"/>
                  <a:cs typeface="Times New Roman" panose="02020603050405020304" charset="0"/>
                </a:rPr>
                <a:t>μ = 0.1 improved both overall and macro accuracy in the strictly paired experiments.</a:t>
              </a:r>
              <a:endParaRPr lang="en-US" altLang="zh-CN" sz="215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6" name="圆角矩形 5"/>
          <p:cNvSpPr/>
          <p:nvPr/>
        </p:nvSpPr>
        <p:spPr>
          <a:xfrm>
            <a:off x="7020560" y="1036320"/>
            <a:ext cx="4779010" cy="231902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240905" y="1048385"/>
            <a:ext cx="442531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Limitations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Single random seed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Five simulated clients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Full client participation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One local epoch per round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GTSRB label-skew setting only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No statistical significance test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7020560" y="3492500"/>
            <a:ext cx="4779010" cy="289369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166610" y="3620770"/>
            <a:ext cx="463232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Future Work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、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SCAFFOLD: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Correct client update directions using control variates.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、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MOON: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Introduce representation-level contrastive learning.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3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、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FedBN: 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Study feature and scene heterogeneity with local BN states.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4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、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Communication Optimisation: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Explore quantisation and sparsification.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750060" y="1486535"/>
            <a:ext cx="856869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6000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Thank You</a:t>
            </a:r>
            <a:endParaRPr lang="en-US" altLang="zh-CN" sz="6000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336925" y="3597275"/>
            <a:ext cx="60960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I sincerely thank my supervisor for the guidance and support throughout this project, and the CityUHK College of Computing for organising the Summer Research Workshop 2026.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DOCER_RESOURCE_TRACE_INFO" val="{&quot;id&quot;:&quot;50059189&quot;,&quot;origin&quot;:0,&quot;type&quot;:&quot;icons&quot;,&quot;user&quot;:&quot;1387076321&quot;}"/>
</p:tagLst>
</file>

<file path=ppt/tags/tag2.xml><?xml version="1.0" encoding="utf-8"?>
<p:tagLst xmlns:p="http://schemas.openxmlformats.org/presentationml/2006/main">
  <p:tag name="KSO_DOCER_RESOURCE_TRACE_INFO" val="{&quot;id&quot;:&quot;50059189&quot;,&quot;origin&quot;:0,&quot;type&quot;:&quot;icons&quot;,&quot;user&quot;:&quot;1387076321&quot;}"/>
</p:tagLst>
</file>

<file path=ppt/tags/tag3.xml><?xml version="1.0" encoding="utf-8"?>
<p:tagLst xmlns:p="http://schemas.openxmlformats.org/presentationml/2006/main">
  <p:tag name="KSO_WM_DIAGRAM_VIRTUALLY_FRAME" val="{&quot;height&quot;:394,&quot;left&quot;:566.4,&quot;top&quot;:42.4,&quot;width&quot;:360.2}"/>
</p:tagLst>
</file>

<file path=ppt/tags/tag4.xml><?xml version="1.0" encoding="utf-8"?>
<p:tagLst xmlns:p="http://schemas.openxmlformats.org/presentationml/2006/main">
  <p:tag name="KSO_WM_DIAGRAM_VIRTUALLY_FRAME" val="{&quot;height&quot;:394,&quot;left&quot;:566.4,&quot;top&quot;:42.4,&quot;width&quot;:360.2}"/>
</p:tagLst>
</file>

<file path=ppt/tags/tag5.xml><?xml version="1.0" encoding="utf-8"?>
<p:tagLst xmlns:p="http://schemas.openxmlformats.org/presentationml/2006/main">
  <p:tag name="KSO_WM_DIAGRAM_VIRTUALLY_FRAME" val="{&quot;height&quot;:394,&quot;left&quot;:566.4,&quot;top&quot;:42.4,&quot;width&quot;:360.2}"/>
</p:tagLst>
</file>

<file path=ppt/tags/tag6.xml><?xml version="1.0" encoding="utf-8"?>
<p:tagLst xmlns:p="http://schemas.openxmlformats.org/presentationml/2006/main">
  <p:tag name="KSO_WM_DIAGRAM_VIRTUALLY_FRAME" val="{&quot;height&quot;:394,&quot;left&quot;:566.4,&quot;top&quot;:42.4,&quot;width&quot;:360.2}"/>
</p:tagLst>
</file>

<file path=ppt/tags/tag7.xml><?xml version="1.0" encoding="utf-8"?>
<p:tagLst xmlns:p="http://schemas.openxmlformats.org/presentationml/2006/main">
  <p:tag name="KSO_WM_DIAGRAM_VIRTUALLY_FRAME" val="{&quot;height&quot;:394,&quot;left&quot;:566.4,&quot;top&quot;:42.4,&quot;width&quot;:360.2}"/>
</p:tagLst>
</file>

<file path=ppt/tags/tag8.xml><?xml version="1.0" encoding="utf-8"?>
<p:tagLst xmlns:p="http://schemas.openxmlformats.org/presentationml/2006/main">
  <p:tag name="KSO_WM_DIAGRAM_VIRTUALLY_FRAME" val="{&quot;height&quot;:394,&quot;left&quot;:566.4,&quot;top&quot;:42.4,&quot;width&quot;:360.2}"/>
</p:tagLst>
</file>

<file path=ppt/tags/tag9.xml><?xml version="1.0" encoding="utf-8"?>
<p:tagLst xmlns:p="http://schemas.openxmlformats.org/presentationml/2006/main">
  <p:tag name="KSO_WM_DIAGRAM_VIRTUALLY_FRAME" val="{&quot;height&quot;:394,&quot;left&quot;:566.4,&quot;top&quot;:42.4,&quot;width&quot;:360.2}"/>
</p:tagLst>
</file>

<file path=ppt/tags/tag10.xml><?xml version="1.0" encoding="utf-8"?>
<p:tagLst xmlns:p="http://schemas.openxmlformats.org/presentationml/2006/main">
  <p:tag name="KSO_WM_DIAGRAM_VIRTUALLY_FRAME" val="{&quot;height&quot;:394,&quot;left&quot;:566.4,&quot;top&quot;:42.4,&quot;width&quot;:360.2}"/>
</p:tagLst>
</file>

<file path=ppt/tags/tag11.xml><?xml version="1.0" encoding="utf-8"?>
<p:tagLst xmlns:p="http://schemas.openxmlformats.org/presentationml/2006/main">
  <p:tag name="KSO_WM_DIAGRAM_VIRTUALLY_FRAME" val="{&quot;height&quot;:394,&quot;left&quot;:566.4,&quot;top&quot;:42.4,&quot;width&quot;:360.2}"/>
</p:tagLst>
</file>

<file path=ppt/tags/tag12.xml><?xml version="1.0" encoding="utf-8"?>
<p:tagLst xmlns:p="http://schemas.openxmlformats.org/presentationml/2006/main">
  <p:tag name="KSO_WM_DIAGRAM_VIRTUALLY_FRAME" val="{&quot;height&quot;:394,&quot;left&quot;:566.4,&quot;top&quot;:42.4,&quot;width&quot;:360.2}"/>
</p:tagLst>
</file>

<file path=ppt/tags/tag13.xml><?xml version="1.0" encoding="utf-8"?>
<p:tagLst xmlns:p="http://schemas.openxmlformats.org/presentationml/2006/main">
  <p:tag name="KSO_WM_DIAGRAM_VIRTUALLY_FRAME" val="{&quot;height&quot;:394,&quot;left&quot;:566.4,&quot;top&quot;:42.4,&quot;width&quot;:360.2}"/>
</p:tagLst>
</file>

<file path=ppt/tags/tag14.xml><?xml version="1.0" encoding="utf-8"?>
<p:tagLst xmlns:p="http://schemas.openxmlformats.org/presentationml/2006/main">
  <p:tag name="KSO_WM_DIAGRAM_VIRTUALLY_FRAME" val="{&quot;height&quot;:394,&quot;left&quot;:566.4,&quot;top&quot;:42.4,&quot;width&quot;:360.2}"/>
</p:tagLst>
</file>

<file path=ppt/tags/tag15.xml><?xml version="1.0" encoding="utf-8"?>
<p:tagLst xmlns:p="http://schemas.openxmlformats.org/presentationml/2006/main">
  <p:tag name="KSO_WM_DIAGRAM_VIRTUALLY_FRAME" val="{&quot;height&quot;:365.95,&quot;left&quot;:566.4,&quot;top&quot;:70.45,&quot;width&quot;:360.2}"/>
</p:tagLst>
</file>

<file path=ppt/tags/tag16.xml><?xml version="1.0" encoding="utf-8"?>
<p:tagLst xmlns:p="http://schemas.openxmlformats.org/presentationml/2006/main">
  <p:tag name="KSO_WM_DIAGRAM_VIRTUALLY_FRAME" val="{&quot;height&quot;:365.95,&quot;left&quot;:566.4,&quot;top&quot;:70.45,&quot;width&quot;:360.2}"/>
</p:tagLst>
</file>

<file path=ppt/tags/tag17.xml><?xml version="1.0" encoding="utf-8"?>
<p:tagLst xmlns:p="http://schemas.openxmlformats.org/presentationml/2006/main">
  <p:tag name="KSO_WM_DIAGRAM_VIRTUALLY_FRAME" val="{&quot;height&quot;:365.95,&quot;left&quot;:566.4,&quot;top&quot;:70.45,&quot;width&quot;:360.2}"/>
</p:tagLst>
</file>

<file path=ppt/tags/tag18.xml><?xml version="1.0" encoding="utf-8"?>
<p:tagLst xmlns:p="http://schemas.openxmlformats.org/presentationml/2006/main">
  <p:tag name="KSO_DOCER_RESOURCE_TRACE_INFO" val="{&quot;id&quot;:&quot;50062459&quot;,&quot;origin&quot;:0,&quot;type&quot;:&quot;icons&quot;,&quot;user&quot;:&quot;1387076321&quot;}"/>
</p:tagLst>
</file>

<file path=ppt/tags/tag19.xml><?xml version="1.0" encoding="utf-8"?>
<p:tagLst xmlns:p="http://schemas.openxmlformats.org/presentationml/2006/main">
  <p:tag name="KSO_DOCER_RESOURCE_TRACE_INFO" val="{&quot;id&quot;:&quot;50062459&quot;,&quot;origin&quot;:0,&quot;type&quot;:&quot;icons&quot;,&quot;user&quot;:&quot;1387076321&quot;}"/>
</p:tagLst>
</file>

<file path=ppt/tags/tag20.xml><?xml version="1.0" encoding="utf-8"?>
<p:tagLst xmlns:p="http://schemas.openxmlformats.org/presentationml/2006/main">
  <p:tag name="KSO_DOCER_RESOURCE_TRACE_INFO" val="{&quot;id&quot;:&quot;50062459&quot;,&quot;origin&quot;:0,&quot;type&quot;:&quot;icons&quot;,&quot;user&quot;:&quot;1387076321&quot;}"/>
</p:tagLst>
</file>

<file path=ppt/tags/tag21.xml><?xml version="1.0" encoding="utf-8"?>
<p:tagLst xmlns:p="http://schemas.openxmlformats.org/presentationml/2006/main">
  <p:tag name="KSO_DOCER_RESOURCE_TRACE_INFO" val="{&quot;id&quot;:&quot;50062459&quot;,&quot;origin&quot;:0,&quot;type&quot;:&quot;icons&quot;,&quot;user&quot;:&quot;1387076321&quot;}"/>
</p:tagLst>
</file>

<file path=ppt/tags/tag22.xml><?xml version="1.0" encoding="utf-8"?>
<p:tagLst xmlns:p="http://schemas.openxmlformats.org/presentationml/2006/main">
  <p:tag name="resource_record_key" val="{&quot;10&quot;:[50059189,50062459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5289</Words>
  <Application>WPS 演示</Application>
  <PresentationFormat>宽屏</PresentationFormat>
  <Paragraphs>215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宋体</vt:lpstr>
      <vt:lpstr>Wingdings</vt:lpstr>
      <vt:lpstr>Arial Unicode MS</vt:lpstr>
      <vt:lpstr>Calibri</vt:lpstr>
      <vt:lpstr>微软雅黑</vt:lpstr>
      <vt:lpstr>Times New Roman</vt:lpstr>
      <vt:lpstr>Wingdings</vt:lpstr>
      <vt:lpstr>Times New Roman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HeMa</dc:creator>
  <cp:lastModifiedBy>淘金者</cp:lastModifiedBy>
  <cp:revision>18</cp:revision>
  <dcterms:created xsi:type="dcterms:W3CDTF">2023-08-09T12:44:00Z</dcterms:created>
  <dcterms:modified xsi:type="dcterms:W3CDTF">2026-07-30T08:46:15Z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504667EC5BDB4395811E6816419D10F6_12</vt:lpwstr>
  </property>
</Properties>
</file>